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8" r:id="rId1"/>
  </p:sldMasterIdLst>
  <p:notesMasterIdLst>
    <p:notesMasterId r:id="rId11"/>
  </p:notesMasterIdLst>
  <p:sldIdLst>
    <p:sldId id="256" r:id="rId2"/>
    <p:sldId id="257" r:id="rId3"/>
    <p:sldId id="258" r:id="rId4"/>
    <p:sldId id="259" r:id="rId5"/>
    <p:sldId id="260" r:id="rId6"/>
    <p:sldId id="261" r:id="rId7"/>
    <p:sldId id="262" r:id="rId8"/>
    <p:sldId id="265" r:id="rId9"/>
    <p:sldId id="266"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159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CDCABD-1274-4FCD-945B-80F30A680BFE}" type="datetimeFigureOut">
              <a:rPr lang="en-IN" smtClean="0"/>
              <a:t>16-01-2025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A2DF9E7-8B15-4020-9B98-DB5444DFF0E4}" type="slidenum">
              <a:rPr lang="en-IN" smtClean="0"/>
              <a:t>‹#›</a:t>
            </a:fld>
            <a:endParaRPr lang="en-IN"/>
          </a:p>
        </p:txBody>
      </p:sp>
    </p:spTree>
    <p:extLst>
      <p:ext uri="{BB962C8B-B14F-4D97-AF65-F5344CB8AC3E}">
        <p14:creationId xmlns:p14="http://schemas.microsoft.com/office/powerpoint/2010/main" val="74967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good evening everyone my name is </a:t>
            </a:r>
            <a:r>
              <a:rPr lang="en-IN" dirty="0" err="1"/>
              <a:t>rohan</a:t>
            </a:r>
            <a:r>
              <a:rPr lang="en-IN" dirty="0"/>
              <a:t> </a:t>
            </a:r>
            <a:r>
              <a:rPr lang="en-IN" dirty="0" err="1"/>
              <a:t>joshi</a:t>
            </a:r>
            <a:r>
              <a:rPr lang="en-IN" dirty="0"/>
              <a:t>, my mini project is a shoplifting detection system that can be integrated in in shopping complexes or grocery stores to tackle the problem of shoplifting.</a:t>
            </a:r>
          </a:p>
        </p:txBody>
      </p:sp>
      <p:sp>
        <p:nvSpPr>
          <p:cNvPr id="4" name="Slide Number Placeholder 3"/>
          <p:cNvSpPr>
            <a:spLocks noGrp="1"/>
          </p:cNvSpPr>
          <p:nvPr>
            <p:ph type="sldNum" sz="quarter" idx="5"/>
          </p:nvPr>
        </p:nvSpPr>
        <p:spPr/>
        <p:txBody>
          <a:bodyPr/>
          <a:lstStyle/>
          <a:p>
            <a:fld id="{DA2DF9E7-8B15-4020-9B98-DB5444DFF0E4}" type="slidenum">
              <a:rPr lang="en-IN" smtClean="0"/>
              <a:t>1</a:t>
            </a:fld>
            <a:endParaRPr lang="en-IN"/>
          </a:p>
        </p:txBody>
      </p:sp>
    </p:spTree>
    <p:extLst>
      <p:ext uri="{BB962C8B-B14F-4D97-AF65-F5344CB8AC3E}">
        <p14:creationId xmlns:p14="http://schemas.microsoft.com/office/powerpoint/2010/main" val="425740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Mobile net v2 :a type of neural network that is </a:t>
            </a:r>
            <a:r>
              <a:rPr lang="en-IN" dirty="0" err="1"/>
              <a:t>dsigend</a:t>
            </a:r>
            <a:r>
              <a:rPr lang="en-IN" dirty="0"/>
              <a:t> to be lightweight and fast developed by google ai </a:t>
            </a:r>
          </a:p>
        </p:txBody>
      </p:sp>
      <p:sp>
        <p:nvSpPr>
          <p:cNvPr id="4" name="Slide Number Placeholder 3"/>
          <p:cNvSpPr>
            <a:spLocks noGrp="1"/>
          </p:cNvSpPr>
          <p:nvPr>
            <p:ph type="sldNum" sz="quarter" idx="5"/>
          </p:nvPr>
        </p:nvSpPr>
        <p:spPr/>
        <p:txBody>
          <a:bodyPr/>
          <a:lstStyle/>
          <a:p>
            <a:fld id="{DA2DF9E7-8B15-4020-9B98-DB5444DFF0E4}" type="slidenum">
              <a:rPr lang="en-IN" smtClean="0"/>
              <a:t>2</a:t>
            </a:fld>
            <a:endParaRPr lang="en-IN"/>
          </a:p>
        </p:txBody>
      </p:sp>
    </p:spTree>
    <p:extLst>
      <p:ext uri="{BB962C8B-B14F-4D97-AF65-F5344CB8AC3E}">
        <p14:creationId xmlns:p14="http://schemas.microsoft.com/office/powerpoint/2010/main" val="1765880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Rectified linear unit </a:t>
            </a:r>
          </a:p>
        </p:txBody>
      </p:sp>
      <p:sp>
        <p:nvSpPr>
          <p:cNvPr id="4" name="Slide Number Placeholder 3"/>
          <p:cNvSpPr>
            <a:spLocks noGrp="1"/>
          </p:cNvSpPr>
          <p:nvPr>
            <p:ph type="sldNum" sz="quarter" idx="5"/>
          </p:nvPr>
        </p:nvSpPr>
        <p:spPr/>
        <p:txBody>
          <a:bodyPr/>
          <a:lstStyle/>
          <a:p>
            <a:fld id="{DA2DF9E7-8B15-4020-9B98-DB5444DFF0E4}" type="slidenum">
              <a:rPr lang="en-IN" smtClean="0"/>
              <a:t>5</a:t>
            </a:fld>
            <a:endParaRPr lang="en-IN"/>
          </a:p>
        </p:txBody>
      </p:sp>
    </p:spTree>
    <p:extLst>
      <p:ext uri="{BB962C8B-B14F-4D97-AF65-F5344CB8AC3E}">
        <p14:creationId xmlns:p14="http://schemas.microsoft.com/office/powerpoint/2010/main" val="3771834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4758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68465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384783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2741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3948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86176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1/16/2025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3541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35205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10532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32198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561852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1/16/2025</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4973816"/>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E5FF"/>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sz="4000" b="1" dirty="0">
                <a:solidFill>
                  <a:srgbClr val="003366"/>
                </a:solidFill>
              </a:rPr>
              <a:t>Shoplifting Detection System</a:t>
            </a:r>
          </a:p>
        </p:txBody>
      </p:sp>
      <p:sp>
        <p:nvSpPr>
          <p:cNvPr id="3" name="Subtitle 2"/>
          <p:cNvSpPr>
            <a:spLocks noGrp="1"/>
          </p:cNvSpPr>
          <p:nvPr>
            <p:ph type="subTitle" idx="1"/>
          </p:nvPr>
        </p:nvSpPr>
        <p:spPr/>
        <p:txBody>
          <a:bodyPr/>
          <a:lstStyle/>
          <a:p>
            <a:r>
              <a:rPr sz="2000" dirty="0">
                <a:solidFill>
                  <a:srgbClr val="000000"/>
                </a:solidFill>
              </a:rPr>
              <a:t>Student: </a:t>
            </a:r>
            <a:r>
              <a:rPr lang="en-IN" sz="2000" dirty="0">
                <a:solidFill>
                  <a:srgbClr val="000000"/>
                </a:solidFill>
              </a:rPr>
              <a:t>Rohan Joshi</a:t>
            </a:r>
            <a:endParaRPr sz="2000" dirty="0">
              <a:solidFill>
                <a:srgbClr val="000000"/>
              </a:solidFill>
            </a:endParaRPr>
          </a:p>
          <a:p>
            <a:r>
              <a:rPr sz="2000" dirty="0">
                <a:solidFill>
                  <a:srgbClr val="000000"/>
                </a:solidFill>
              </a:rPr>
              <a:t>Mentor:</a:t>
            </a:r>
            <a:r>
              <a:rPr lang="en-IN" sz="2000" dirty="0">
                <a:solidFill>
                  <a:srgbClr val="000000"/>
                </a:solidFill>
              </a:rPr>
              <a:t> Mr. Piyush Agarwal</a:t>
            </a:r>
            <a:endParaRPr sz="20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dirty="0">
                <a:solidFill>
                  <a:srgbClr val="003366"/>
                </a:solidFill>
              </a:rPr>
              <a:t>Introduction</a:t>
            </a:r>
          </a:p>
        </p:txBody>
      </p:sp>
      <p:sp>
        <p:nvSpPr>
          <p:cNvPr id="3" name="Content Placeholder 2"/>
          <p:cNvSpPr>
            <a:spLocks noGrp="1"/>
          </p:cNvSpPr>
          <p:nvPr>
            <p:ph idx="1"/>
          </p:nvPr>
        </p:nvSpPr>
        <p:spPr/>
        <p:txBody>
          <a:bodyPr/>
          <a:lstStyle/>
          <a:p>
            <a:r>
              <a:rPr lang="en-GB" dirty="0"/>
              <a:t>Shoplifting is a major concern for retailers worldwide, leading to significant financial losses. Traditional security methods, such as manual CCTV monitoring, are inefficient and prone to human error. This project aims to address this issue by leveraging deep learning to automate the detection of suspicious shoppers in real-time video footage. Using MobileNetV2, a lightweight and efficient convolutional neural network (CNN), the system identifies unusual behaviours that may indicate shoplifting, such as suspicious movements or actions. The goal is to enhance retail security, reduce theft-related losses, and support security teams by providing faster, more accurate alerts, ultimately improving store profitability and operational efficiency.</a:t>
            </a:r>
            <a:endParaRPr sz="2000"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3366"/>
                </a:solidFill>
              </a:rPr>
              <a:t>Problem Statement</a:t>
            </a:r>
          </a:p>
        </p:txBody>
      </p:sp>
      <p:sp>
        <p:nvSpPr>
          <p:cNvPr id="3" name="Content Placeholder 2"/>
          <p:cNvSpPr>
            <a:spLocks noGrp="1"/>
          </p:cNvSpPr>
          <p:nvPr>
            <p:ph idx="1"/>
          </p:nvPr>
        </p:nvSpPr>
        <p:spPr/>
        <p:txBody>
          <a:bodyPr/>
          <a:lstStyle/>
          <a:p>
            <a:r>
              <a:rPr lang="en-GB" dirty="0"/>
              <a:t>Shoplifting continues to be a major challenge for retailers, resulting in significant financial losses each year. Traditional methods of theft detection, such as manual CCTV monitoring, are inefficient, time-consuming, and prone to human error. Security personnel often struggle to distinguish between normal customer behaviour and suspicious activity, leading to missed incidents of theft. </a:t>
            </a:r>
          </a:p>
          <a:p>
            <a:r>
              <a:rPr lang="en-GB" dirty="0"/>
              <a:t>This project aims to develop an automated system to detect suspicious shoppers in real-time video footage, thereby improving the efficiency and accuracy of retail security, reducing human error, and minimizing theft-related losses.</a:t>
            </a:r>
            <a:endParaRPr sz="2000"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3366"/>
                </a:solidFill>
              </a:rPr>
              <a:t>Methodology - Part 1</a:t>
            </a:r>
          </a:p>
        </p:txBody>
      </p:sp>
      <p:sp>
        <p:nvSpPr>
          <p:cNvPr id="3" name="Content Placeholder 2"/>
          <p:cNvSpPr>
            <a:spLocks noGrp="1"/>
          </p:cNvSpPr>
          <p:nvPr>
            <p:ph idx="1"/>
          </p:nvPr>
        </p:nvSpPr>
        <p:spPr/>
        <p:txBody>
          <a:bodyPr/>
          <a:lstStyle/>
          <a:p>
            <a:r>
              <a:rPr lang="en-GB" b="1" u="sng" dirty="0"/>
              <a:t>Data Preparation &amp; Augmentation</a:t>
            </a:r>
            <a:endParaRPr lang="en-GB" u="sng" dirty="0"/>
          </a:p>
          <a:p>
            <a:r>
              <a:rPr lang="en-GB" b="1" dirty="0"/>
              <a:t>Data Preparation:</a:t>
            </a:r>
            <a:endParaRPr lang="en-GB" dirty="0"/>
          </a:p>
          <a:p>
            <a:pPr>
              <a:buFont typeface="Arial" panose="020B0604020202020204" pitchFamily="34" charset="0"/>
              <a:buChar char="•"/>
            </a:pPr>
            <a:r>
              <a:rPr lang="en-GB" dirty="0"/>
              <a:t>Video datasets with labelled frames as "suspicious" or "normal" were collected.</a:t>
            </a:r>
          </a:p>
          <a:p>
            <a:pPr>
              <a:buFont typeface="Arial" panose="020B0604020202020204" pitchFamily="34" charset="0"/>
              <a:buChar char="•"/>
            </a:pPr>
            <a:r>
              <a:rPr lang="en-GB" dirty="0"/>
              <a:t>Frames extracted at 10 frames per second to create a diverse dataset for training and validation.</a:t>
            </a:r>
          </a:p>
          <a:p>
            <a:r>
              <a:rPr lang="en-GB" b="1" dirty="0"/>
              <a:t>Data Augmentation:</a:t>
            </a:r>
            <a:endParaRPr lang="en-GB" dirty="0"/>
          </a:p>
          <a:p>
            <a:pPr>
              <a:buFont typeface="Arial" panose="020B0604020202020204" pitchFamily="34" charset="0"/>
              <a:buChar char="•"/>
            </a:pPr>
            <a:r>
              <a:rPr lang="en-GB" dirty="0"/>
              <a:t>Techniques like rescaling, rotation, and horizontal flipping were used to enhance the variety in the training data, making the model more robust to variations in the footage.</a:t>
            </a:r>
          </a:p>
          <a:p>
            <a:endParaRPr sz="2000" dirty="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3366"/>
                </a:solidFill>
              </a:rPr>
              <a:t>Methodology - Part 2</a:t>
            </a:r>
          </a:p>
        </p:txBody>
      </p:sp>
      <p:sp>
        <p:nvSpPr>
          <p:cNvPr id="3" name="Content Placeholder 2"/>
          <p:cNvSpPr>
            <a:spLocks noGrp="1"/>
          </p:cNvSpPr>
          <p:nvPr>
            <p:ph idx="1"/>
          </p:nvPr>
        </p:nvSpPr>
        <p:spPr/>
        <p:txBody>
          <a:bodyPr>
            <a:normAutofit lnSpcReduction="10000"/>
          </a:bodyPr>
          <a:lstStyle/>
          <a:p>
            <a:r>
              <a:rPr lang="en-IN" b="1" u="sng" dirty="0"/>
              <a:t>Model Architecture &amp; Implementation</a:t>
            </a:r>
            <a:endParaRPr lang="en-IN" u="sng" dirty="0"/>
          </a:p>
          <a:p>
            <a:r>
              <a:rPr lang="en-IN" b="1" dirty="0"/>
              <a:t>Model Architecture:</a:t>
            </a:r>
            <a:endParaRPr lang="en-IN" dirty="0"/>
          </a:p>
          <a:p>
            <a:pPr>
              <a:buFont typeface="Arial" panose="020B0604020202020204" pitchFamily="34" charset="0"/>
              <a:buChar char="•"/>
            </a:pPr>
            <a:r>
              <a:rPr lang="en-IN" b="1" dirty="0"/>
              <a:t>Base Model:</a:t>
            </a:r>
            <a:r>
              <a:rPr lang="en-IN" dirty="0"/>
              <a:t> MobileNetV2, a lightweight deep learning model.</a:t>
            </a:r>
          </a:p>
          <a:p>
            <a:pPr>
              <a:buFont typeface="Arial" panose="020B0604020202020204" pitchFamily="34" charset="0"/>
              <a:buChar char="•"/>
            </a:pPr>
            <a:r>
              <a:rPr lang="en-IN" b="1" dirty="0"/>
              <a:t>Key Components:</a:t>
            </a:r>
            <a:endParaRPr lang="en-IN" dirty="0"/>
          </a:p>
          <a:p>
            <a:pPr marL="742950" lvl="1" indent="-285750">
              <a:buFont typeface="Arial" panose="020B0604020202020204" pitchFamily="34" charset="0"/>
              <a:buChar char="•"/>
            </a:pPr>
            <a:r>
              <a:rPr lang="en-IN" b="1" dirty="0"/>
              <a:t>GlobalAveragePooling2D</a:t>
            </a:r>
            <a:r>
              <a:rPr lang="en-IN" dirty="0"/>
              <a:t> for dimensionality reduction.</a:t>
            </a:r>
          </a:p>
          <a:p>
            <a:pPr marL="742950" lvl="1" indent="-285750">
              <a:buFont typeface="Arial" panose="020B0604020202020204" pitchFamily="34" charset="0"/>
              <a:buChar char="•"/>
            </a:pPr>
            <a:r>
              <a:rPr lang="en-IN" b="1" dirty="0"/>
              <a:t>Dense Layers</a:t>
            </a:r>
            <a:r>
              <a:rPr lang="en-IN" dirty="0"/>
              <a:t> for classification.</a:t>
            </a:r>
          </a:p>
          <a:p>
            <a:pPr marL="742950" lvl="1" indent="-285750">
              <a:buFont typeface="Arial" panose="020B0604020202020204" pitchFamily="34" charset="0"/>
              <a:buChar char="•"/>
            </a:pPr>
            <a:r>
              <a:rPr lang="en-IN" b="1" dirty="0"/>
              <a:t>Activation Functions:</a:t>
            </a:r>
            <a:r>
              <a:rPr lang="en-IN" dirty="0"/>
              <a:t> </a:t>
            </a:r>
            <a:r>
              <a:rPr lang="en-IN" dirty="0" err="1"/>
              <a:t>ReLU</a:t>
            </a:r>
            <a:r>
              <a:rPr lang="en-IN" dirty="0"/>
              <a:t> for internal layers, sigmoid for output.</a:t>
            </a:r>
          </a:p>
          <a:p>
            <a:r>
              <a:rPr lang="en-IN" b="1" dirty="0"/>
              <a:t>Implementation:</a:t>
            </a:r>
            <a:endParaRPr lang="en-IN" dirty="0"/>
          </a:p>
          <a:p>
            <a:pPr>
              <a:buFont typeface="Arial" panose="020B0604020202020204" pitchFamily="34" charset="0"/>
              <a:buChar char="•"/>
            </a:pPr>
            <a:r>
              <a:rPr lang="en-IN" b="1" dirty="0"/>
              <a:t>Programming Language:</a:t>
            </a:r>
            <a:r>
              <a:rPr lang="en-IN" dirty="0"/>
              <a:t> Python</a:t>
            </a:r>
          </a:p>
          <a:p>
            <a:pPr>
              <a:buFont typeface="Arial" panose="020B0604020202020204" pitchFamily="34" charset="0"/>
              <a:buChar char="•"/>
            </a:pPr>
            <a:r>
              <a:rPr lang="en-IN" b="1" dirty="0"/>
              <a:t>Libraries:</a:t>
            </a:r>
            <a:r>
              <a:rPr lang="en-IN" dirty="0"/>
              <a:t> TensorFlow, OpenCV, Matplotlib</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003366"/>
                </a:solidFill>
              </a:rPr>
              <a:t>Methodology - Part 3</a:t>
            </a:r>
          </a:p>
        </p:txBody>
      </p:sp>
      <p:sp>
        <p:nvSpPr>
          <p:cNvPr id="3" name="Content Placeholder 2"/>
          <p:cNvSpPr>
            <a:spLocks noGrp="1"/>
          </p:cNvSpPr>
          <p:nvPr>
            <p:ph idx="1"/>
          </p:nvPr>
        </p:nvSpPr>
        <p:spPr/>
        <p:txBody>
          <a:bodyPr/>
          <a:lstStyle/>
          <a:p>
            <a:r>
              <a:rPr lang="en-IN" b="1" u="sng" dirty="0"/>
              <a:t>Model Training &amp; Testing</a:t>
            </a:r>
            <a:endParaRPr lang="en-IN" u="sng" dirty="0"/>
          </a:p>
          <a:p>
            <a:r>
              <a:rPr lang="en-IN" b="1" dirty="0"/>
              <a:t>Model Training:</a:t>
            </a:r>
            <a:endParaRPr lang="en-IN" dirty="0"/>
          </a:p>
          <a:p>
            <a:pPr>
              <a:buFont typeface="Arial" panose="020B0604020202020204" pitchFamily="34" charset="0"/>
              <a:buChar char="•"/>
            </a:pPr>
            <a:r>
              <a:rPr lang="en-IN" b="1" dirty="0"/>
              <a:t>Optimizer:</a:t>
            </a:r>
            <a:r>
              <a:rPr lang="en-IN" dirty="0"/>
              <a:t> Adam</a:t>
            </a:r>
          </a:p>
          <a:p>
            <a:pPr>
              <a:buFont typeface="Arial" panose="020B0604020202020204" pitchFamily="34" charset="0"/>
              <a:buChar char="•"/>
            </a:pPr>
            <a:r>
              <a:rPr lang="en-IN" b="1" dirty="0"/>
              <a:t>Loss Function:</a:t>
            </a:r>
            <a:r>
              <a:rPr lang="en-IN" dirty="0"/>
              <a:t> Binary Cross-Entropy</a:t>
            </a:r>
          </a:p>
          <a:p>
            <a:pPr>
              <a:buFont typeface="Arial" panose="020B0604020202020204" pitchFamily="34" charset="0"/>
              <a:buChar char="•"/>
            </a:pPr>
            <a:r>
              <a:rPr lang="en-IN" b="1" dirty="0"/>
              <a:t>Epochs:</a:t>
            </a:r>
            <a:r>
              <a:rPr lang="en-IN" dirty="0"/>
              <a:t> 5</a:t>
            </a:r>
          </a:p>
          <a:p>
            <a:pPr>
              <a:buFont typeface="Arial" panose="020B0604020202020204" pitchFamily="34" charset="0"/>
              <a:buChar char="•"/>
            </a:pPr>
            <a:r>
              <a:rPr lang="en-IN" b="1" dirty="0"/>
              <a:t>Training-Validation Split:</a:t>
            </a:r>
            <a:r>
              <a:rPr lang="en-IN" dirty="0"/>
              <a:t> 80:20</a:t>
            </a:r>
          </a:p>
          <a:p>
            <a:endParaRPr sz="2000" dirty="0">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dirty="0">
                <a:solidFill>
                  <a:srgbClr val="003366"/>
                </a:solidFill>
              </a:rPr>
              <a:t>Results</a:t>
            </a:r>
            <a:r>
              <a:rPr lang="en-IN" sz="3200" b="1" dirty="0">
                <a:solidFill>
                  <a:srgbClr val="003366"/>
                </a:solidFill>
              </a:rPr>
              <a:t> and Discussion</a:t>
            </a:r>
            <a:endParaRPr sz="3200" b="1" dirty="0">
              <a:solidFill>
                <a:srgbClr val="003366"/>
              </a:solidFill>
            </a:endParaRPr>
          </a:p>
        </p:txBody>
      </p:sp>
      <p:sp>
        <p:nvSpPr>
          <p:cNvPr id="3" name="Content Placeholder 2"/>
          <p:cNvSpPr>
            <a:spLocks noGrp="1"/>
          </p:cNvSpPr>
          <p:nvPr>
            <p:ph idx="1"/>
          </p:nvPr>
        </p:nvSpPr>
        <p:spPr/>
        <p:txBody>
          <a:bodyPr>
            <a:normAutofit lnSpcReduction="10000"/>
          </a:bodyPr>
          <a:lstStyle/>
          <a:p>
            <a:r>
              <a:rPr lang="en-IN" b="1" dirty="0"/>
              <a:t>Model Performance Metrics</a:t>
            </a:r>
            <a:endParaRPr lang="en-IN" dirty="0"/>
          </a:p>
          <a:p>
            <a:r>
              <a:rPr lang="en-IN" b="1" dirty="0"/>
              <a:t>Evaluation Metrics:</a:t>
            </a:r>
            <a:endParaRPr lang="en-IN" dirty="0"/>
          </a:p>
          <a:p>
            <a:pPr>
              <a:buFont typeface="Arial" panose="020B0604020202020204" pitchFamily="34" charset="0"/>
              <a:buChar char="•"/>
            </a:pPr>
            <a:r>
              <a:rPr lang="en-IN" b="1" dirty="0"/>
              <a:t>Training Accuracy:</a:t>
            </a:r>
            <a:r>
              <a:rPr lang="en-IN" dirty="0"/>
              <a:t> 94%</a:t>
            </a:r>
          </a:p>
          <a:p>
            <a:pPr>
              <a:buFont typeface="Arial" panose="020B0604020202020204" pitchFamily="34" charset="0"/>
              <a:buChar char="•"/>
            </a:pPr>
            <a:r>
              <a:rPr lang="en-IN" b="1" dirty="0"/>
              <a:t>Validation Accuracy:</a:t>
            </a:r>
            <a:r>
              <a:rPr lang="en-IN" dirty="0"/>
              <a:t> 92%</a:t>
            </a:r>
          </a:p>
          <a:p>
            <a:pPr>
              <a:buFont typeface="Arial" panose="020B0604020202020204" pitchFamily="34" charset="0"/>
              <a:buChar char="•"/>
            </a:pPr>
            <a:r>
              <a:rPr lang="en-IN" b="1" dirty="0"/>
              <a:t>Precision:</a:t>
            </a:r>
            <a:r>
              <a:rPr lang="en-IN" dirty="0"/>
              <a:t> 0.91</a:t>
            </a:r>
          </a:p>
          <a:p>
            <a:pPr>
              <a:buFont typeface="Arial" panose="020B0604020202020204" pitchFamily="34" charset="0"/>
              <a:buChar char="•"/>
            </a:pPr>
            <a:r>
              <a:rPr lang="en-IN" b="1" dirty="0"/>
              <a:t>Recall:</a:t>
            </a:r>
            <a:r>
              <a:rPr lang="en-IN" dirty="0"/>
              <a:t> 0.89</a:t>
            </a:r>
          </a:p>
          <a:p>
            <a:pPr>
              <a:buFont typeface="Arial" panose="020B0604020202020204" pitchFamily="34" charset="0"/>
              <a:buChar char="•"/>
            </a:pPr>
            <a:r>
              <a:rPr lang="en-IN" b="1" dirty="0"/>
              <a:t>F1-Score:</a:t>
            </a:r>
            <a:r>
              <a:rPr lang="en-IN" dirty="0"/>
              <a:t> 0.90</a:t>
            </a:r>
          </a:p>
          <a:p>
            <a:r>
              <a:rPr lang="en-IN" dirty="0"/>
              <a:t>These metrics indicate that the model performs reliably in distinguishing between suspicious and normal behaviours, with balanced precision and recall.</a:t>
            </a:r>
          </a:p>
          <a:p>
            <a:endParaRPr sz="2000" dirty="0">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BEA9A-4FAB-05A5-3C30-5E8B9ABAFEF3}"/>
              </a:ext>
            </a:extLst>
          </p:cNvPr>
          <p:cNvSpPr>
            <a:spLocks noGrp="1"/>
          </p:cNvSpPr>
          <p:nvPr>
            <p:ph type="title"/>
          </p:nvPr>
        </p:nvSpPr>
        <p:spPr>
          <a:xfrm>
            <a:off x="682112" y="411011"/>
            <a:ext cx="7543800" cy="1450757"/>
          </a:xfrm>
        </p:spPr>
        <p:txBody>
          <a:bodyPr>
            <a:normAutofit/>
          </a:bodyPr>
          <a:lstStyle/>
          <a:p>
            <a:r>
              <a:rPr lang="en-IN" sz="3200" dirty="0">
                <a:solidFill>
                  <a:srgbClr val="003366"/>
                </a:solidFill>
              </a:rPr>
              <a:t>Results</a:t>
            </a:r>
            <a:r>
              <a:rPr lang="en-IN" sz="3200" b="1" dirty="0">
                <a:solidFill>
                  <a:srgbClr val="003366"/>
                </a:solidFill>
              </a:rPr>
              <a:t> </a:t>
            </a:r>
            <a:r>
              <a:rPr lang="en-IN" sz="3200" dirty="0">
                <a:solidFill>
                  <a:srgbClr val="003366"/>
                </a:solidFill>
              </a:rPr>
              <a:t>and</a:t>
            </a:r>
            <a:r>
              <a:rPr lang="en-IN" sz="3200" b="1" dirty="0">
                <a:solidFill>
                  <a:srgbClr val="003366"/>
                </a:solidFill>
              </a:rPr>
              <a:t> </a:t>
            </a:r>
            <a:r>
              <a:rPr lang="en-IN" sz="3200" dirty="0">
                <a:solidFill>
                  <a:srgbClr val="003366"/>
                </a:solidFill>
              </a:rPr>
              <a:t>Discussion</a:t>
            </a:r>
            <a:endParaRPr lang="en-IN" sz="3200" dirty="0"/>
          </a:p>
        </p:txBody>
      </p:sp>
      <p:graphicFrame>
        <p:nvGraphicFramePr>
          <p:cNvPr id="8" name="Content Placeholder 7">
            <a:extLst>
              <a:ext uri="{FF2B5EF4-FFF2-40B4-BE49-F238E27FC236}">
                <a16:creationId xmlns:a16="http://schemas.microsoft.com/office/drawing/2014/main" id="{8B5EA099-07FB-FD61-C0FD-2BAA3E0EC04D}"/>
              </a:ext>
            </a:extLst>
          </p:cNvPr>
          <p:cNvGraphicFramePr>
            <a:graphicFrameLocks noGrp="1"/>
          </p:cNvGraphicFramePr>
          <p:nvPr>
            <p:ph idx="1"/>
            <p:extLst>
              <p:ext uri="{D42A27DB-BD31-4B8C-83A1-F6EECF244321}">
                <p14:modId xmlns:p14="http://schemas.microsoft.com/office/powerpoint/2010/main" val="579400497"/>
              </p:ext>
            </p:extLst>
          </p:nvPr>
        </p:nvGraphicFramePr>
        <p:xfrm>
          <a:off x="822325" y="2434106"/>
          <a:ext cx="7543800" cy="1325901"/>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16596729"/>
                    </a:ext>
                  </a:extLst>
                </a:gridCol>
                <a:gridCol w="2514600">
                  <a:extLst>
                    <a:ext uri="{9D8B030D-6E8A-4147-A177-3AD203B41FA5}">
                      <a16:colId xmlns:a16="http://schemas.microsoft.com/office/drawing/2014/main" val="325851956"/>
                    </a:ext>
                  </a:extLst>
                </a:gridCol>
                <a:gridCol w="2514600">
                  <a:extLst>
                    <a:ext uri="{9D8B030D-6E8A-4147-A177-3AD203B41FA5}">
                      <a16:colId xmlns:a16="http://schemas.microsoft.com/office/drawing/2014/main" val="3480676351"/>
                    </a:ext>
                  </a:extLst>
                </a:gridCol>
              </a:tblGrid>
              <a:tr h="441967">
                <a:tc>
                  <a:txBody>
                    <a:bodyPr/>
                    <a:lstStyle/>
                    <a:p>
                      <a:endParaRPr lang="en-IN"/>
                    </a:p>
                  </a:txBody>
                  <a:tcPr/>
                </a:tc>
                <a:tc>
                  <a:txBody>
                    <a:bodyPr/>
                    <a:lstStyle/>
                    <a:p>
                      <a:r>
                        <a:rPr lang="en-IN" dirty="0"/>
                        <a:t>Predicted Suspicious</a:t>
                      </a:r>
                    </a:p>
                  </a:txBody>
                  <a:tcPr/>
                </a:tc>
                <a:tc>
                  <a:txBody>
                    <a:bodyPr/>
                    <a:lstStyle/>
                    <a:p>
                      <a:r>
                        <a:rPr lang="en-IN" dirty="0"/>
                        <a:t>Predicted Normal</a:t>
                      </a:r>
                    </a:p>
                  </a:txBody>
                  <a:tcPr/>
                </a:tc>
                <a:extLst>
                  <a:ext uri="{0D108BD9-81ED-4DB2-BD59-A6C34878D82A}">
                    <a16:rowId xmlns:a16="http://schemas.microsoft.com/office/drawing/2014/main" val="2999127186"/>
                  </a:ext>
                </a:extLst>
              </a:tr>
              <a:tr h="441967">
                <a:tc>
                  <a:txBody>
                    <a:bodyPr/>
                    <a:lstStyle/>
                    <a:p>
                      <a:r>
                        <a:rPr lang="en-IN" dirty="0"/>
                        <a:t>Actual Suspicious</a:t>
                      </a:r>
                    </a:p>
                  </a:txBody>
                  <a:tcPr/>
                </a:tc>
                <a:tc>
                  <a:txBody>
                    <a:bodyPr/>
                    <a:lstStyle/>
                    <a:p>
                      <a:r>
                        <a:rPr lang="en-IN" dirty="0"/>
                        <a:t>230</a:t>
                      </a:r>
                    </a:p>
                  </a:txBody>
                  <a:tcPr/>
                </a:tc>
                <a:tc>
                  <a:txBody>
                    <a:bodyPr/>
                    <a:lstStyle/>
                    <a:p>
                      <a:r>
                        <a:rPr lang="en-IN" dirty="0"/>
                        <a:t>20</a:t>
                      </a:r>
                    </a:p>
                  </a:txBody>
                  <a:tcPr/>
                </a:tc>
                <a:extLst>
                  <a:ext uri="{0D108BD9-81ED-4DB2-BD59-A6C34878D82A}">
                    <a16:rowId xmlns:a16="http://schemas.microsoft.com/office/drawing/2014/main" val="25050066"/>
                  </a:ext>
                </a:extLst>
              </a:tr>
              <a:tr h="441967">
                <a:tc>
                  <a:txBody>
                    <a:bodyPr/>
                    <a:lstStyle/>
                    <a:p>
                      <a:r>
                        <a:rPr lang="en-IN" dirty="0"/>
                        <a:t>Actual Normal</a:t>
                      </a:r>
                    </a:p>
                  </a:txBody>
                  <a:tcPr/>
                </a:tc>
                <a:tc>
                  <a:txBody>
                    <a:bodyPr/>
                    <a:lstStyle/>
                    <a:p>
                      <a:r>
                        <a:rPr lang="en-IN" dirty="0"/>
                        <a:t>15</a:t>
                      </a:r>
                    </a:p>
                  </a:txBody>
                  <a:tcPr/>
                </a:tc>
                <a:tc>
                  <a:txBody>
                    <a:bodyPr/>
                    <a:lstStyle/>
                    <a:p>
                      <a:r>
                        <a:rPr lang="en-IN" dirty="0"/>
                        <a:t>235</a:t>
                      </a:r>
                    </a:p>
                  </a:txBody>
                  <a:tcPr/>
                </a:tc>
                <a:extLst>
                  <a:ext uri="{0D108BD9-81ED-4DB2-BD59-A6C34878D82A}">
                    <a16:rowId xmlns:a16="http://schemas.microsoft.com/office/drawing/2014/main" val="105410595"/>
                  </a:ext>
                </a:extLst>
              </a:tr>
            </a:tbl>
          </a:graphicData>
        </a:graphic>
      </p:graphicFrame>
      <p:sp>
        <p:nvSpPr>
          <p:cNvPr id="10" name="TextBox 9">
            <a:extLst>
              <a:ext uri="{FF2B5EF4-FFF2-40B4-BE49-F238E27FC236}">
                <a16:creationId xmlns:a16="http://schemas.microsoft.com/office/drawing/2014/main" id="{C5C85122-1308-1376-AE29-75A860653AF3}"/>
              </a:ext>
            </a:extLst>
          </p:cNvPr>
          <p:cNvSpPr txBox="1"/>
          <p:nvPr/>
        </p:nvSpPr>
        <p:spPr>
          <a:xfrm>
            <a:off x="822325" y="2064774"/>
            <a:ext cx="7645707" cy="369332"/>
          </a:xfrm>
          <a:prstGeom prst="rect">
            <a:avLst/>
          </a:prstGeom>
          <a:noFill/>
        </p:spPr>
        <p:txBody>
          <a:bodyPr wrap="square" rtlCol="0">
            <a:spAutoFit/>
          </a:bodyPr>
          <a:lstStyle/>
          <a:p>
            <a:r>
              <a:rPr lang="en-IN" dirty="0"/>
              <a:t>Confusion Matrix:</a:t>
            </a:r>
          </a:p>
        </p:txBody>
      </p:sp>
      <p:sp>
        <p:nvSpPr>
          <p:cNvPr id="11" name="TextBox 10">
            <a:extLst>
              <a:ext uri="{FF2B5EF4-FFF2-40B4-BE49-F238E27FC236}">
                <a16:creationId xmlns:a16="http://schemas.microsoft.com/office/drawing/2014/main" id="{89F8A93B-C1BA-E53A-68C5-E7C162D5C34E}"/>
              </a:ext>
            </a:extLst>
          </p:cNvPr>
          <p:cNvSpPr txBox="1"/>
          <p:nvPr/>
        </p:nvSpPr>
        <p:spPr>
          <a:xfrm>
            <a:off x="822325" y="4218039"/>
            <a:ext cx="7543800" cy="646331"/>
          </a:xfrm>
          <a:prstGeom prst="rect">
            <a:avLst/>
          </a:prstGeom>
          <a:noFill/>
        </p:spPr>
        <p:txBody>
          <a:bodyPr wrap="square" rtlCol="0">
            <a:spAutoFit/>
          </a:bodyPr>
          <a:lstStyle/>
          <a:p>
            <a:r>
              <a:rPr lang="en-GB" b="1" dirty="0"/>
              <a:t>Low False Positives/Negatives:</a:t>
            </a:r>
            <a:r>
              <a:rPr lang="en-GB" dirty="0"/>
              <a:t> Demonstrates the model’s strong classification ability.</a:t>
            </a:r>
            <a:endParaRPr lang="en-IN" dirty="0"/>
          </a:p>
        </p:txBody>
      </p:sp>
    </p:spTree>
    <p:extLst>
      <p:ext uri="{BB962C8B-B14F-4D97-AF65-F5344CB8AC3E}">
        <p14:creationId xmlns:p14="http://schemas.microsoft.com/office/powerpoint/2010/main" val="333064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3C873B-8CAF-A3D3-57EA-91629D4D9F78}"/>
              </a:ext>
            </a:extLst>
          </p:cNvPr>
          <p:cNvSpPr txBox="1"/>
          <p:nvPr/>
        </p:nvSpPr>
        <p:spPr>
          <a:xfrm>
            <a:off x="363793" y="373626"/>
            <a:ext cx="9055510" cy="584775"/>
          </a:xfrm>
          <a:prstGeom prst="rect">
            <a:avLst/>
          </a:prstGeom>
          <a:noFill/>
        </p:spPr>
        <p:txBody>
          <a:bodyPr wrap="square" rtlCol="0">
            <a:spAutoFit/>
          </a:bodyPr>
          <a:lstStyle/>
          <a:p>
            <a:r>
              <a:rPr lang="en-IN" sz="3200" dirty="0">
                <a:latin typeface="+mj-lt"/>
              </a:rPr>
              <a:t>Conclusion and Future work:</a:t>
            </a:r>
            <a:endParaRPr lang="en-IN" dirty="0">
              <a:latin typeface="+mj-lt"/>
            </a:endParaRPr>
          </a:p>
        </p:txBody>
      </p:sp>
      <p:sp>
        <p:nvSpPr>
          <p:cNvPr id="3" name="TextBox 2">
            <a:extLst>
              <a:ext uri="{FF2B5EF4-FFF2-40B4-BE49-F238E27FC236}">
                <a16:creationId xmlns:a16="http://schemas.microsoft.com/office/drawing/2014/main" id="{E1FF9F86-25A8-0AC6-7981-4C1990955BB2}"/>
              </a:ext>
            </a:extLst>
          </p:cNvPr>
          <p:cNvSpPr txBox="1"/>
          <p:nvPr/>
        </p:nvSpPr>
        <p:spPr>
          <a:xfrm>
            <a:off x="609600" y="1288026"/>
            <a:ext cx="8298426" cy="4247317"/>
          </a:xfrm>
          <a:prstGeom prst="rect">
            <a:avLst/>
          </a:prstGeom>
          <a:noFill/>
        </p:spPr>
        <p:txBody>
          <a:bodyPr wrap="square" rtlCol="0">
            <a:spAutoFit/>
          </a:bodyPr>
          <a:lstStyle/>
          <a:p>
            <a:r>
              <a:rPr lang="en-GB" b="1" dirty="0"/>
              <a:t>Conclusion:</a:t>
            </a:r>
            <a:r>
              <a:rPr lang="en-GB" dirty="0"/>
              <a:t> This project successfully developed an automated shoplifting detection system using deep learning, achieving 92% accuracy in identifying suspicious behaviour from video frames. By leveraging MobileNetV2, the system offers an efficient, scalable solution that reduces human error and enhances retail security. It provides real-time detection capabilities, improving store operations and minimizing theft-related losses.</a:t>
            </a:r>
          </a:p>
          <a:p>
            <a:r>
              <a:rPr lang="en-GB" b="1" dirty="0"/>
              <a:t>Future Work:</a:t>
            </a:r>
            <a:endParaRPr lang="en-GB" dirty="0"/>
          </a:p>
          <a:p>
            <a:pPr>
              <a:buFont typeface="Arial" panose="020B0604020202020204" pitchFamily="34" charset="0"/>
              <a:buChar char="•"/>
            </a:pPr>
            <a:r>
              <a:rPr lang="en-GB" b="1" dirty="0"/>
              <a:t>Dataset Expansion:</a:t>
            </a:r>
            <a:r>
              <a:rPr lang="en-GB" dirty="0"/>
              <a:t> Collect more diverse data, including various lighting conditions, camera angles, and store layouts.</a:t>
            </a:r>
          </a:p>
          <a:p>
            <a:pPr>
              <a:buFont typeface="Arial" panose="020B0604020202020204" pitchFamily="34" charset="0"/>
              <a:buChar char="•"/>
            </a:pPr>
            <a:r>
              <a:rPr lang="en-GB" b="1" dirty="0"/>
              <a:t>Real-Time Deployment:</a:t>
            </a:r>
            <a:r>
              <a:rPr lang="en-GB" dirty="0"/>
              <a:t> Optimize the model for edge devices and integrate with live CCTV systems.</a:t>
            </a:r>
          </a:p>
          <a:p>
            <a:pPr>
              <a:buFont typeface="Arial" panose="020B0604020202020204" pitchFamily="34" charset="0"/>
              <a:buChar char="•"/>
            </a:pPr>
            <a:r>
              <a:rPr lang="en-GB" b="1" dirty="0"/>
              <a:t>Multi-Camera Analysis:</a:t>
            </a:r>
            <a:r>
              <a:rPr lang="en-GB" dirty="0"/>
              <a:t> Extend the system to process feeds from multiple cameras simultaneously for enhanced surveillance.</a:t>
            </a:r>
          </a:p>
          <a:p>
            <a:pPr>
              <a:buFont typeface="Arial" panose="020B0604020202020204" pitchFamily="34" charset="0"/>
              <a:buChar char="•"/>
            </a:pPr>
            <a:r>
              <a:rPr lang="en-GB" b="1" dirty="0"/>
              <a:t>Retail System Integration:</a:t>
            </a:r>
            <a:r>
              <a:rPr lang="en-GB" dirty="0"/>
              <a:t> Link the system to store management software for automated alerts and insights.</a:t>
            </a:r>
          </a:p>
          <a:p>
            <a:endParaRPr lang="en-IN" dirty="0"/>
          </a:p>
        </p:txBody>
      </p:sp>
    </p:spTree>
    <p:extLst>
      <p:ext uri="{BB962C8B-B14F-4D97-AF65-F5344CB8AC3E}">
        <p14:creationId xmlns:p14="http://schemas.microsoft.com/office/powerpoint/2010/main" val="1119601253"/>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1772</TotalTime>
  <Words>679</Words>
  <Application>Microsoft Office PowerPoint</Application>
  <PresentationFormat>On-screen Show (4:3)</PresentationFormat>
  <Paragraphs>66</Paragraphs>
  <Slides>9</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Arial</vt:lpstr>
      <vt:lpstr>Calibri</vt:lpstr>
      <vt:lpstr>Calibri Light</vt:lpstr>
      <vt:lpstr>Retrospect</vt:lpstr>
      <vt:lpstr>Shoplifting Detection System</vt:lpstr>
      <vt:lpstr>Introduction</vt:lpstr>
      <vt:lpstr>Problem Statement</vt:lpstr>
      <vt:lpstr>Methodology - Part 1</vt:lpstr>
      <vt:lpstr>Methodology - Part 2</vt:lpstr>
      <vt:lpstr>Methodology - Part 3</vt:lpstr>
      <vt:lpstr>Results and Discussion</vt:lpstr>
      <vt:lpstr>Results and Discussion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Rohan Joshi</cp:lastModifiedBy>
  <cp:revision>3</cp:revision>
  <dcterms:created xsi:type="dcterms:W3CDTF">2013-01-27T09:14:16Z</dcterms:created>
  <dcterms:modified xsi:type="dcterms:W3CDTF">2025-01-17T08:23:13Z</dcterms:modified>
  <cp:category/>
</cp:coreProperties>
</file>